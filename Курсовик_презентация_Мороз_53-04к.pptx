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72" r:id="rId15"/>
    <p:sldId id="27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A35"/>
    <a:srgbClr val="1F1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6" autoAdjust="0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2BAF1-3218-4F82-9E88-A98050A8586E}" type="datetimeFigureOut">
              <a:t>18.06.2026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065A0-A761-4957-92FB-801AEBD9517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334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08C3-83E0-8EE0-E2F8-8C319C59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1A0DA-A3C8-11BA-E6E2-A92001827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84A7B-5E4D-AD4E-30B8-DCE90CC39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F819B-5000-6D1F-029D-933734730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1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9F04D-A5AF-001F-D86F-8A512DB2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072CF-B08E-46FF-B387-084AEEF69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613222-2DBE-B3B7-D953-7E0A56D02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D7CE2-BF8D-C812-5A77-047B22F9FA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99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8B67E-9ED8-E9BE-D9F0-D77BCED3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9004C-D7EC-E781-6104-9F14AA2EB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BABCE-1C03-4285-A57D-385B5D6FC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E75F1-091B-A8CC-9EEB-BB0955AD9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27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7626" y="1631735"/>
            <a:ext cx="2018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ОТЧЁТ</a:t>
            </a:r>
            <a:endParaRPr lang="en-US" sz="4400" dirty="0">
              <a:latin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13914" y="2198429"/>
            <a:ext cx="572555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Times New Roman"/>
                <a:ea typeface="Segoe UI" pitchFamily="34" charset="-122"/>
                <a:cs typeface="Times New Roman"/>
              </a:rPr>
              <a:t>о </a:t>
            </a:r>
            <a:r>
              <a:rPr lang="ru-RU" sz="1600" dirty="0">
                <a:solidFill>
                  <a:srgbClr val="FFFFFF"/>
                </a:solidFill>
                <a:latin typeface="Times New Roman"/>
                <a:ea typeface="Segoe UI" pitchFamily="34" charset="-122"/>
                <a:cs typeface="Times New Roman"/>
              </a:rPr>
              <a:t>выполнении курсовой работы</a:t>
            </a:r>
            <a:r>
              <a:rPr lang="en-US" sz="1600" dirty="0">
                <a:solidFill>
                  <a:srgbClr val="FFFFFF"/>
                </a:solidFill>
                <a:latin typeface="Times New Roman"/>
                <a:ea typeface="Segoe UI" pitchFamily="34" charset="-122"/>
                <a:cs typeface="Times New Roman"/>
              </a:rPr>
              <a:t>
</a:t>
            </a:r>
            <a:r>
              <a:rPr lang="ru-RU" sz="1600" dirty="0">
                <a:solidFill>
                  <a:srgbClr val="FFFFFF"/>
                </a:solidFill>
                <a:latin typeface="Times New Roman"/>
                <a:cs typeface="Times New Roman"/>
              </a:rPr>
              <a:t>Разработка модуля администратора для ювелирного магазина</a:t>
            </a:r>
            <a:endParaRPr lang="en-US" sz="16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33364" y="4057826"/>
            <a:ext cx="29545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ФИО: </a:t>
            </a:r>
            <a:r>
              <a:rPr lang="ru-RU" sz="135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Мороз Григорий Игоревич</a:t>
            </a:r>
            <a:endParaRPr lang="en-US" sz="135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33364" y="4467665"/>
            <a:ext cx="1342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Группа</a:t>
            </a:r>
            <a:r>
              <a:rPr lang="en-US" sz="135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: 53</a:t>
            </a:r>
            <a:r>
              <a:rPr lang="en-US" sz="1350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-04</a:t>
            </a:r>
            <a:r>
              <a:rPr lang="ru-RU" sz="1350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к</a:t>
            </a:r>
            <a:endParaRPr lang="en-US" sz="13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9253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 err="1">
                <a:latin typeface="Times New Roman"/>
              </a:rPr>
              <a:t>Информация</a:t>
            </a:r>
            <a:r>
              <a:rPr sz="2100" b="1" i="0" dirty="0">
                <a:latin typeface="Times New Roman"/>
              </a:rPr>
              <a:t> о </a:t>
            </a:r>
            <a:r>
              <a:rPr sz="2100" b="1" i="0" dirty="0" err="1">
                <a:latin typeface="Times New Roman"/>
              </a:rPr>
              <a:t>проекте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12080" cy="28544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latin typeface="Times New Roman"/>
              </a:rPr>
              <a:t>•  </a:t>
            </a:r>
            <a:r>
              <a:rPr sz="1400" dirty="0" err="1">
                <a:latin typeface="Times New Roman"/>
              </a:rPr>
              <a:t>Тема</a:t>
            </a:r>
            <a:r>
              <a:rPr sz="1400" dirty="0">
                <a:latin typeface="Times New Roman"/>
              </a:rPr>
              <a:t>: «</a:t>
            </a:r>
            <a:r>
              <a:rPr lang="ru-RU" sz="1400" dirty="0">
                <a:latin typeface="Times New Roman"/>
              </a:rPr>
              <a:t>Разработка модуля администратора для ювелирного магазина</a:t>
            </a:r>
            <a:r>
              <a:rPr sz="1400" dirty="0">
                <a:latin typeface="Times New Roman"/>
              </a:rPr>
              <a:t>»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latin typeface="Times New Roman"/>
              </a:rPr>
              <a:t>•  ПМ 01 «</a:t>
            </a:r>
            <a:r>
              <a:rPr sz="1400" b="0" i="0" dirty="0" err="1">
                <a:latin typeface="Times New Roman"/>
              </a:rPr>
              <a:t>Разработка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модулей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программного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обеспечения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для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компьютерных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систем</a:t>
            </a:r>
            <a:r>
              <a:rPr sz="1400" b="0" i="0" dirty="0">
                <a:latin typeface="Times New Roman"/>
              </a:rPr>
              <a:t>»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latin typeface="Times New Roman"/>
              </a:rPr>
              <a:t>• </a:t>
            </a:r>
            <a:r>
              <a:rPr sz="1400" b="0" i="0" dirty="0" err="1">
                <a:latin typeface="Times New Roman"/>
              </a:rPr>
              <a:t>Специальность</a:t>
            </a:r>
            <a:r>
              <a:rPr sz="1400" b="0" i="0" dirty="0">
                <a:latin typeface="Times New Roman"/>
              </a:rPr>
              <a:t> 09.02.07 «</a:t>
            </a:r>
            <a:r>
              <a:rPr sz="1400" b="0" i="0" dirty="0" err="1">
                <a:latin typeface="Times New Roman"/>
              </a:rPr>
              <a:t>Информационные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системы</a:t>
            </a:r>
            <a:r>
              <a:rPr sz="1400" b="0" i="0" dirty="0">
                <a:latin typeface="Times New Roman"/>
              </a:rPr>
              <a:t> и </a:t>
            </a:r>
            <a:r>
              <a:rPr sz="1400" b="0" i="0" dirty="0" err="1">
                <a:latin typeface="Times New Roman"/>
              </a:rPr>
              <a:t>программирование</a:t>
            </a:r>
            <a:r>
              <a:rPr sz="1400" b="0" i="0" dirty="0">
                <a:latin typeface="Times New Roman"/>
              </a:rPr>
              <a:t>»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latin typeface="Times New Roman"/>
              </a:rPr>
              <a:t>•  </a:t>
            </a:r>
            <a:r>
              <a:rPr sz="1400" b="0" i="0" dirty="0" err="1">
                <a:latin typeface="Times New Roman"/>
              </a:rPr>
              <a:t>Автор</a:t>
            </a:r>
            <a:r>
              <a:rPr sz="1400" b="0" i="0" dirty="0">
                <a:latin typeface="Times New Roman"/>
              </a:rPr>
              <a:t>: </a:t>
            </a:r>
            <a:r>
              <a:rPr lang="ru-RU" sz="1400" dirty="0">
                <a:latin typeface="Times New Roman"/>
              </a:rPr>
              <a:t>Мороз Григорий Игоревич</a:t>
            </a:r>
            <a:r>
              <a:rPr sz="1400" b="0" i="0" dirty="0">
                <a:latin typeface="Times New Roman"/>
              </a:rPr>
              <a:t>, </a:t>
            </a:r>
            <a:r>
              <a:rPr sz="1400" b="0" i="0" dirty="0" err="1">
                <a:latin typeface="Times New Roman"/>
              </a:rPr>
              <a:t>группа</a:t>
            </a:r>
            <a:r>
              <a:rPr sz="1400" b="0" i="0" dirty="0">
                <a:latin typeface="Times New Roman"/>
              </a:rPr>
              <a:t> 53-04К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latin typeface="Times New Roman"/>
              </a:rPr>
              <a:t>•  </a:t>
            </a:r>
            <a:r>
              <a:rPr sz="1400" b="0" i="0" dirty="0" err="1">
                <a:latin typeface="Times New Roman"/>
              </a:rPr>
              <a:t>Руководитель</a:t>
            </a:r>
            <a:r>
              <a:rPr sz="1400" b="0" i="0" dirty="0">
                <a:latin typeface="Times New Roman"/>
              </a:rPr>
              <a:t>: Т. С. </a:t>
            </a:r>
            <a:r>
              <a:rPr sz="1400" b="0" i="0" dirty="0" err="1">
                <a:latin typeface="Times New Roman"/>
              </a:rPr>
              <a:t>Спиридонова</a:t>
            </a:r>
            <a:endParaRPr sz="1400" b="0" i="0" dirty="0"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0" y="48691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9253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 err="1">
                <a:latin typeface="Times New Roman"/>
              </a:rPr>
              <a:t>Цель</a:t>
            </a:r>
            <a:r>
              <a:rPr sz="2100" b="1" i="0" dirty="0">
                <a:latin typeface="Times New Roman"/>
              </a:rPr>
              <a:t> и </a:t>
            </a:r>
            <a:r>
              <a:rPr sz="2100" b="1" i="0" dirty="0" err="1">
                <a:latin typeface="Times New Roman"/>
              </a:rPr>
              <a:t>задачи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проекта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12080" cy="319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Разработка модуля администратора на платформе WPF для ювелирного магазина, интегрированного с общей базой данных через 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средств разработки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проекта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интерфейса пользователей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приложения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463040"/>
            <a:ext cx="2880360" cy="110871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Готовая информационная система с веб-каталогом и административной панелью</a:t>
            </a:r>
            <a:endParaRPr sz="14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0" y="48691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9253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>
                <a:latin typeface="Times New Roman"/>
              </a:rPr>
              <a:t>1.</a:t>
            </a:r>
            <a:r>
              <a:rPr lang="en-US"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Выбор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средств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разработки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12080" cy="2223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 — Microsoft SQL Server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Веб-часть — ASP.NET Core MVC,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Админ-модуль — WPF,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iTextSharp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(PDF)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QRCoder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(QR-коды)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— Visual Studio, SSMS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48691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1C2D40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31372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>
                <a:latin typeface="Times New Roman"/>
              </a:rPr>
              <a:t>2. БД: </a:t>
            </a:r>
            <a:r>
              <a:rPr lang="ru-RU" sz="2100" b="1" i="0" dirty="0">
                <a:latin typeface="Times New Roman"/>
              </a:rPr>
              <a:t>П</a:t>
            </a:r>
            <a:r>
              <a:rPr sz="2100" b="1" i="0" dirty="0" err="1">
                <a:latin typeface="Times New Roman"/>
              </a:rPr>
              <a:t>редметная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область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12080" cy="3516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Две роли: пользователь и администратор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каталога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фильтрация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заказов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покупок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товарами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заказами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пользователями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остатков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463040"/>
            <a:ext cx="2880360" cy="15544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прав: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функциям определяется ролью пользователя в системе</a:t>
            </a:r>
            <a:endParaRPr sz="14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0" y="48691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3137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>
                <a:latin typeface="Times New Roman"/>
              </a:rPr>
              <a:t>БД: </a:t>
            </a:r>
            <a:r>
              <a:rPr lang="ru-RU" sz="2100" b="1" dirty="0">
                <a:latin typeface="Times New Roman"/>
              </a:rPr>
              <a:t>К</a:t>
            </a:r>
            <a:r>
              <a:rPr sz="2100" b="1" i="0" dirty="0" err="1">
                <a:latin typeface="Times New Roman"/>
              </a:rPr>
              <a:t>онцептуальное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проектирование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975" y="1371600"/>
            <a:ext cx="4711065" cy="3670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СУБД: Microsoft SQL Server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таблицы: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(пользователи)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Jewelries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(изделия)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(заказы)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(состав заказов)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Deliveries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(доставка)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Stones,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(справочники)</a:t>
            </a:r>
            <a:endParaRPr lang="ru-RU" sz="1400" i="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i="0" dirty="0" err="1">
                <a:latin typeface="Times New Roman"/>
              </a:rPr>
              <a:t>Связи</a:t>
            </a:r>
            <a:r>
              <a:rPr sz="1400" i="0" dirty="0">
                <a:latin typeface="Times New Roman"/>
              </a:rPr>
              <a:t> «</a:t>
            </a:r>
            <a:r>
              <a:rPr sz="1400" i="0" dirty="0" err="1">
                <a:latin typeface="Times New Roman"/>
              </a:rPr>
              <a:t>многие-ко-многим</a:t>
            </a:r>
            <a:r>
              <a:rPr sz="1400" i="0" dirty="0">
                <a:latin typeface="Times New Roman"/>
              </a:rPr>
              <a:t>» </a:t>
            </a:r>
            <a:r>
              <a:rPr sz="1400" i="0" dirty="0" err="1">
                <a:latin typeface="Times New Roman"/>
              </a:rPr>
              <a:t>через</a:t>
            </a:r>
            <a:r>
              <a:rPr sz="1400" i="0" dirty="0">
                <a:latin typeface="Times New Roman"/>
              </a:rPr>
              <a:t> </a:t>
            </a:r>
            <a:r>
              <a:rPr sz="1400" i="0" dirty="0" err="1">
                <a:latin typeface="Times New Roman"/>
              </a:rPr>
              <a:t>промежуточные</a:t>
            </a:r>
            <a:r>
              <a:rPr sz="1400" i="0" dirty="0">
                <a:latin typeface="Times New Roman"/>
              </a:rPr>
              <a:t> </a:t>
            </a:r>
            <a:r>
              <a:rPr sz="1400" i="0" dirty="0" err="1">
                <a:latin typeface="Times New Roman"/>
              </a:rPr>
              <a:t>таблицы</a:t>
            </a:r>
            <a:endParaRPr sz="1400" i="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i="0" dirty="0" err="1">
                <a:latin typeface="Times New Roman"/>
              </a:rPr>
              <a:t>Суррогатные</a:t>
            </a:r>
            <a:r>
              <a:rPr sz="1400" i="0" dirty="0">
                <a:latin typeface="Times New Roman"/>
              </a:rPr>
              <a:t> </a:t>
            </a:r>
            <a:r>
              <a:rPr sz="1400" i="0" dirty="0" err="1">
                <a:latin typeface="Times New Roman"/>
              </a:rPr>
              <a:t>первичные</a:t>
            </a:r>
            <a:r>
              <a:rPr sz="1400" i="0" dirty="0">
                <a:latin typeface="Times New Roman"/>
              </a:rPr>
              <a:t> </a:t>
            </a:r>
            <a:r>
              <a:rPr sz="1400" i="0" dirty="0" err="1">
                <a:latin typeface="Times New Roman"/>
              </a:rPr>
              <a:t>ключи</a:t>
            </a:r>
            <a:r>
              <a:rPr sz="1400" i="0" dirty="0">
                <a:latin typeface="Times New Roman"/>
              </a:rPr>
              <a:t> с </a:t>
            </a:r>
            <a:r>
              <a:rPr sz="1400" i="0" dirty="0" err="1">
                <a:latin typeface="Times New Roman"/>
              </a:rPr>
              <a:t>автоинкрементом</a:t>
            </a:r>
            <a:endParaRPr sz="1400" i="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i="0" dirty="0" err="1">
                <a:latin typeface="Times New Roman"/>
              </a:rPr>
              <a:t>Концептуальная</a:t>
            </a:r>
            <a:r>
              <a:rPr sz="1400" i="0" dirty="0">
                <a:latin typeface="Times New Roman"/>
              </a:rPr>
              <a:t> </a:t>
            </a:r>
            <a:r>
              <a:rPr sz="1400" i="0" dirty="0" err="1">
                <a:latin typeface="Times New Roman"/>
              </a:rPr>
              <a:t>модель</a:t>
            </a:r>
            <a:r>
              <a:rPr sz="1400" i="0" dirty="0">
                <a:latin typeface="Times New Roman"/>
              </a:rPr>
              <a:t> — ER-</a:t>
            </a:r>
            <a:r>
              <a:rPr sz="1400" i="0" dirty="0" err="1">
                <a:latin typeface="Times New Roman"/>
              </a:rPr>
              <a:t>диаграмма</a:t>
            </a:r>
            <a:r>
              <a:rPr sz="1400" i="0" dirty="0">
                <a:latin typeface="Times New Roman"/>
              </a:rPr>
              <a:t> (</a:t>
            </a:r>
            <a:r>
              <a:rPr sz="1400" i="0" dirty="0" err="1">
                <a:latin typeface="Times New Roman"/>
              </a:rPr>
              <a:t>рисунок</a:t>
            </a:r>
            <a:r>
              <a:rPr sz="1400" i="0" dirty="0">
                <a:latin typeface="Times New Roman"/>
              </a:rPr>
              <a:t>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840480" cy="2697480"/>
          </a:xfrm>
          <a:prstGeom prst="rect">
            <a:avLst/>
          </a:prstGeom>
          <a:solidFill>
            <a:srgbClr val="EEF4F6"/>
          </a:solidFill>
          <a:ln w="15875">
            <a:solidFill>
              <a:srgbClr val="2196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196C4"/>
                </a:solidFill>
                <a:latin typeface="Times New Roman"/>
              </a:rPr>
              <a:t>место для изображения</a:t>
            </a:r>
          </a:p>
          <a:p>
            <a:pPr algn="ctr">
              <a:spcBef>
                <a:spcPts val="400"/>
              </a:spcBef>
            </a:pPr>
            <a:r>
              <a:rPr sz="1000" b="0" i="1">
                <a:solidFill>
                  <a:srgbClr val="1C2D40"/>
                </a:solidFill>
                <a:latin typeface="Times New Roman"/>
              </a:rPr>
              <a:t>Рисунок 1 — ER-диаграмма базы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60520"/>
            <a:ext cx="3840480" cy="8686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Итог:</a:t>
            </a: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Структура приведена к третьей нормальной форме (3НФ).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64C05C-05DF-CC0C-B1D6-3E75B3B53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829" y="1413364"/>
            <a:ext cx="3224530" cy="26139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27755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>
                <a:latin typeface="Times New Roman"/>
              </a:rPr>
              <a:t>БД: </a:t>
            </a:r>
            <a:r>
              <a:rPr lang="ru-RU" sz="2100" b="1" dirty="0">
                <a:latin typeface="Times New Roman"/>
              </a:rPr>
              <a:t>Л</a:t>
            </a:r>
            <a:r>
              <a:rPr sz="2100" b="1" i="0" dirty="0" err="1">
                <a:latin typeface="Times New Roman"/>
              </a:rPr>
              <a:t>огическое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проектирование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4389120" cy="28698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Реляционная схема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DropThisDatabase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15 таблиц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Группа учёта пользователей: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Каталог ювелирных изделий: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Jewelries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JewelryTip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Справочники материалов и камней: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Stones,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Stounes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Связи с поставщиками: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Коммерция и заказы: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Deliveries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OrderStatuses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SposopiOplati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Складской учёт: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WarehousesItems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840480" cy="2697480"/>
          </a:xfrm>
          <a:prstGeom prst="rect">
            <a:avLst/>
          </a:prstGeom>
          <a:solidFill>
            <a:srgbClr val="EEF4F6"/>
          </a:solidFill>
          <a:ln w="15875">
            <a:solidFill>
              <a:srgbClr val="2196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0" b="0" i="1" dirty="0">
              <a:solidFill>
                <a:srgbClr val="1C2D4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0" y="4160520"/>
            <a:ext cx="3840480" cy="8686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Times New Roman"/>
              </a:rPr>
              <a:t>База</a:t>
            </a:r>
            <a:r>
              <a:rPr sz="1400" b="1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Times New Roman"/>
              </a:rPr>
              <a:t>данных</a:t>
            </a:r>
            <a:r>
              <a:rPr sz="1400" b="1" i="0" dirty="0">
                <a:solidFill>
                  <a:srgbClr val="FFFFFF"/>
                </a:solidFill>
                <a:latin typeface="Times New Roman"/>
              </a:rPr>
              <a:t>:</a:t>
            </a:r>
          </a:p>
          <a:p>
            <a:pPr algn="ctr">
              <a:lnSpc>
                <a:spcPct val="103000"/>
              </a:lnSpc>
              <a:spcBef>
                <a:spcPts val="300"/>
              </a:spcBef>
            </a:pPr>
            <a:r>
              <a:rPr lang="en-US" sz="1400" dirty="0">
                <a:solidFill>
                  <a:srgbClr val="FFFFFF"/>
                </a:solidFill>
                <a:latin typeface="Times New Roman"/>
              </a:rPr>
              <a:t>15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таблицы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под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управлением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MS SQL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7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C1BF0F-0367-E7E4-8EE1-BCC333640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790" y="1425594"/>
            <a:ext cx="2955300" cy="25894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3137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>
                <a:latin typeface="Times New Roman"/>
              </a:rPr>
              <a:t>БД: </a:t>
            </a:r>
            <a:r>
              <a:rPr lang="ru-RU" sz="2100" b="1" dirty="0">
                <a:latin typeface="Times New Roman"/>
              </a:rPr>
              <a:t>Ф</a:t>
            </a:r>
            <a:r>
              <a:rPr sz="2100" b="1" i="0" dirty="0" err="1">
                <a:latin typeface="Times New Roman"/>
              </a:rPr>
              <a:t>изическое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проектирование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4389120" cy="3516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NVARCHAR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Unicode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DECIMAL(10,2) — деньги, DECIMAL(5,2) — вес изделий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Длинные описания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NVARCHAR(MAX)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DELETE CASCADE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связей заказов и позиций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CHECK: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цена &gt; 0, количество ≥ 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логинов, номеров заказов; индексы по внешним ключам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110065" y="3726180"/>
            <a:ext cx="3840480" cy="8686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Целостность:</a:t>
            </a: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Обеспечена ключами, ограничениями UNIQUE и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754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1C2D40"/>
                </a:solidFill>
                <a:latin typeface="Times New Roman"/>
              </a:rPr>
              <a:t>8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8E23F0F-770B-9F06-BD64-B8BF83AE7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200" y="1256211"/>
            <a:ext cx="3966210" cy="2079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9253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>
                <a:latin typeface="Times New Roman"/>
              </a:rPr>
              <a:t>3. </a:t>
            </a:r>
            <a:r>
              <a:rPr sz="2100" b="1" i="0" dirty="0" err="1">
                <a:latin typeface="Times New Roman"/>
              </a:rPr>
              <a:t>Структура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проекта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4389120" cy="233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 dirty="0">
                <a:latin typeface="Times New Roman"/>
              </a:rPr>
              <a:t>• 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Двухкомпонентная архитектура: веб-клиент (ASP.NET Core) + десктоп-админка (WPF)</a:t>
            </a:r>
          </a:p>
          <a:p>
            <a:pPr algn="just">
              <a:lnSpc>
                <a:spcPct val="150000"/>
              </a:lnSpc>
            </a:pPr>
            <a:r>
              <a:rPr sz="1400" b="0" i="0" dirty="0">
                <a:latin typeface="Times New Roman"/>
              </a:rPr>
              <a:t>• </a:t>
            </a:r>
            <a:r>
              <a:rPr sz="1400" b="0" i="0" dirty="0" err="1">
                <a:latin typeface="Times New Roman"/>
              </a:rPr>
              <a:t>Представление</a:t>
            </a:r>
            <a:r>
              <a:rPr sz="1400" b="0" i="0" dirty="0">
                <a:latin typeface="Times New Roman"/>
              </a:rPr>
              <a:t> —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внутри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MainWindow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навигацией через Frame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sz="1400" b="0" i="0" dirty="0">
                <a:latin typeface="Times New Roman"/>
              </a:rPr>
              <a:t>•  </a:t>
            </a:r>
            <a:r>
              <a:rPr sz="1400" b="0" i="0" dirty="0" err="1">
                <a:latin typeface="Times New Roman"/>
              </a:rPr>
              <a:t>Доступ</a:t>
            </a:r>
            <a:r>
              <a:rPr sz="1400" b="0" i="0" dirty="0">
                <a:latin typeface="Times New Roman"/>
              </a:rPr>
              <a:t> к </a:t>
            </a:r>
            <a:r>
              <a:rPr sz="1400" b="0" i="0" dirty="0" err="1">
                <a:latin typeface="Times New Roman"/>
              </a:rPr>
              <a:t>данным</a:t>
            </a:r>
            <a:r>
              <a:rPr sz="1400" b="0" i="0" dirty="0">
                <a:latin typeface="Times New Roman"/>
              </a:rPr>
              <a:t> — </a:t>
            </a:r>
            <a:r>
              <a:rPr sz="1400" b="0" i="0" dirty="0" err="1">
                <a:latin typeface="Times New Roman"/>
              </a:rPr>
              <a:t>App</a:t>
            </a:r>
            <a:r>
              <a:rPr lang="en-US" sz="1400" b="0" i="0" dirty="0" err="1">
                <a:latin typeface="Times New Roman"/>
              </a:rPr>
              <a:t>lication</a:t>
            </a:r>
            <a:r>
              <a:rPr sz="1400" b="0" i="0" dirty="0" err="1">
                <a:latin typeface="Times New Roman"/>
              </a:rPr>
              <a:t>DbContext</a:t>
            </a:r>
            <a:r>
              <a:rPr sz="1400" b="0" i="0" dirty="0">
                <a:latin typeface="Times New Roman"/>
              </a:rPr>
              <a:t> (Entity Framework 6)</a:t>
            </a:r>
          </a:p>
          <a:p>
            <a:pPr algn="just">
              <a:lnSpc>
                <a:spcPct val="150000"/>
              </a:lnSpc>
            </a:pPr>
            <a:r>
              <a:rPr sz="1400" b="0" i="0" dirty="0">
                <a:latin typeface="Times New Roman"/>
              </a:rPr>
              <a:t>•  </a:t>
            </a:r>
            <a:r>
              <a:rPr sz="1400" b="0" i="0" dirty="0" err="1">
                <a:latin typeface="Times New Roman"/>
              </a:rPr>
              <a:t>Папки</a:t>
            </a:r>
            <a:r>
              <a:rPr sz="1400" b="0" i="0" dirty="0">
                <a:latin typeface="Times New Roman"/>
              </a:rPr>
              <a:t>: Models, Data, </a:t>
            </a:r>
            <a:r>
              <a:rPr lang="en-US" sz="1400" dirty="0">
                <a:latin typeface="Times New Roman"/>
              </a:rPr>
              <a:t>Controllers</a:t>
            </a:r>
            <a:r>
              <a:rPr sz="1400" b="0" i="0" dirty="0">
                <a:latin typeface="Times New Roman"/>
              </a:rPr>
              <a:t>, </a:t>
            </a:r>
            <a:r>
              <a:rPr lang="en-US" sz="1400" b="0" i="0" dirty="0">
                <a:latin typeface="Times New Roman"/>
              </a:rPr>
              <a:t>Views</a:t>
            </a:r>
            <a:r>
              <a:rPr lang="en-US" sz="1400" dirty="0">
                <a:latin typeface="Times New Roman"/>
              </a:rPr>
              <a:t>, Pages, Images, </a:t>
            </a:r>
            <a:r>
              <a:rPr lang="en-US" sz="1400" dirty="0" err="1">
                <a:latin typeface="Times New Roman"/>
              </a:rPr>
              <a:t>AppData</a:t>
            </a:r>
            <a:endParaRPr sz="1400" b="0" i="0" dirty="0"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0" y="4160520"/>
            <a:ext cx="3840480" cy="8686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Times New Roman"/>
              </a:rPr>
              <a:t>Итог</a:t>
            </a:r>
            <a:r>
              <a:rPr sz="1400" b="1" i="0" dirty="0">
                <a:solidFill>
                  <a:srgbClr val="FFFFFF"/>
                </a:solidFill>
                <a:latin typeface="Times New Roman"/>
              </a:rPr>
              <a:t>:</a:t>
            </a:r>
          </a:p>
          <a:p>
            <a:pPr algn="just">
              <a:lnSpc>
                <a:spcPct val="103000"/>
              </a:lnSpc>
              <a:spcBef>
                <a:spcPts val="300"/>
              </a:spcBef>
            </a:pP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Многослойная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архитектура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упрощает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сопровождени</a:t>
            </a:r>
            <a:r>
              <a:rPr lang="ru-RU" sz="1400" dirty="0">
                <a:solidFill>
                  <a:srgbClr val="FFFFFF"/>
                </a:solidFill>
                <a:latin typeface="Times New Roman"/>
              </a:rPr>
              <a:t>е</a:t>
            </a:r>
            <a:endParaRPr sz="1400" b="0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48691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9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69A799A-9E4C-44C2-D010-75AB5CDE2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643" y="692531"/>
            <a:ext cx="1481594" cy="3424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793A3-BBD7-0059-0BA9-9F75A59E3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16966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 err="1">
                <a:latin typeface="Times New Roman"/>
              </a:rPr>
              <a:t>Архитектурные</a:t>
            </a:r>
            <a:r>
              <a:rPr sz="2100" b="1" i="0" dirty="0">
                <a:latin typeface="Times New Roman"/>
              </a:rPr>
              <a:t> </a:t>
            </a:r>
            <a:r>
              <a:rPr sz="2100" b="1" i="0" dirty="0" err="1">
                <a:latin typeface="Times New Roman"/>
              </a:rPr>
              <a:t>решения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212080" cy="10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latin typeface="Times New Roman"/>
              </a:rPr>
              <a:t>•  </a:t>
            </a:r>
            <a:r>
              <a:rPr sz="1400" b="0" i="0" dirty="0" err="1">
                <a:latin typeface="Times New Roman"/>
              </a:rPr>
              <a:t>Единый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контекст</a:t>
            </a:r>
            <a:r>
              <a:rPr sz="1400" b="0" i="0" dirty="0">
                <a:latin typeface="Times New Roman"/>
              </a:rPr>
              <a:t> БД </a:t>
            </a:r>
            <a:r>
              <a:rPr sz="1400" b="0" i="0" dirty="0" err="1">
                <a:latin typeface="Times New Roman"/>
              </a:rPr>
              <a:t>через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статический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класс</a:t>
            </a:r>
            <a:r>
              <a:rPr sz="1400" b="0" i="0" dirty="0">
                <a:latin typeface="Times New Roman"/>
              </a:rPr>
              <a:t> Db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latin typeface="Times New Roman"/>
              </a:rPr>
              <a:t>•  </a:t>
            </a:r>
            <a:r>
              <a:rPr sz="1400" b="0" i="0" dirty="0" err="1">
                <a:latin typeface="Times New Roman"/>
              </a:rPr>
              <a:t>Длительные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операции</a:t>
            </a:r>
            <a:r>
              <a:rPr sz="1400" b="0" i="0" dirty="0">
                <a:latin typeface="Times New Roman"/>
              </a:rPr>
              <a:t> (API) — </a:t>
            </a:r>
            <a:r>
              <a:rPr sz="1400" b="0" i="0" dirty="0" err="1">
                <a:latin typeface="Times New Roman"/>
              </a:rPr>
              <a:t>асинхронно</a:t>
            </a:r>
            <a:r>
              <a:rPr sz="1400" b="0" i="0" dirty="0">
                <a:latin typeface="Times New Roman"/>
              </a:rPr>
              <a:t> в </a:t>
            </a:r>
            <a:r>
              <a:rPr sz="1400" b="0" i="0" dirty="0" err="1">
                <a:latin typeface="Times New Roman"/>
              </a:rPr>
              <a:t>фоновом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потоке</a:t>
            </a:r>
            <a:endParaRPr sz="1400" b="0" i="0" dirty="0">
              <a:latin typeface="Times New Roman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sz="1400" b="0" i="0" dirty="0">
                <a:latin typeface="Times New Roman"/>
              </a:rPr>
              <a:t>•  </a:t>
            </a:r>
            <a:r>
              <a:rPr sz="1400" b="0" i="0" dirty="0" err="1">
                <a:latin typeface="Times New Roman"/>
              </a:rPr>
              <a:t>Сборка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через</a:t>
            </a:r>
            <a:r>
              <a:rPr sz="1400" b="0" i="0" dirty="0">
                <a:latin typeface="Times New Roman"/>
              </a:rPr>
              <a:t> Visual Studio </a:t>
            </a:r>
            <a:r>
              <a:rPr sz="1400" b="0" i="0" dirty="0" err="1">
                <a:latin typeface="Times New Roman"/>
              </a:rPr>
              <a:t>или</a:t>
            </a:r>
            <a:r>
              <a:rPr sz="1400" b="0" i="0" dirty="0">
                <a:latin typeface="Times New Roman"/>
              </a:rPr>
              <a:t> dotnet build (SDK-</a:t>
            </a:r>
            <a:r>
              <a:rPr sz="1400" b="0" i="0" dirty="0" err="1">
                <a:latin typeface="Times New Roman"/>
              </a:rPr>
              <a:t>формат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проекта</a:t>
            </a:r>
            <a:r>
              <a:rPr sz="1400" b="0" i="0" dirty="0">
                <a:latin typeface="Times New Roman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463040"/>
            <a:ext cx="2880360" cy="15544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Times New Roman"/>
              </a:rPr>
              <a:t>NuGet:</a:t>
            </a: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EntityFramework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6.5.1 ·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Newtonsoft.Json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· </a:t>
            </a:r>
            <a:r>
              <a:rPr lang="en-US" sz="1400" dirty="0">
                <a:solidFill>
                  <a:srgbClr val="FFFFFF"/>
                </a:solidFill>
                <a:latin typeface="Times New Roman"/>
              </a:rPr>
              <a:t>IText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Sharp ·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QRCoder</a:t>
            </a:r>
            <a:endParaRPr sz="1400" b="0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0" y="48691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1C2D40"/>
                </a:solidFill>
                <a:latin typeface="Times New Roma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24759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9253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>
                <a:latin typeface="Times New Roman"/>
              </a:rPr>
              <a:t>4. </a:t>
            </a:r>
            <a:r>
              <a:rPr lang="ru-RU" sz="2100" b="1" dirty="0">
                <a:latin typeface="Times New Roman"/>
              </a:rPr>
              <a:t>А</a:t>
            </a:r>
            <a:r>
              <a:rPr sz="2100" b="1" i="0" dirty="0" err="1">
                <a:latin typeface="Times New Roman"/>
              </a:rPr>
              <a:t>вторизация</a:t>
            </a:r>
            <a:endParaRPr sz="2100" b="1" i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4389120" cy="28698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светло-зелёная тема с акцентным цветом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авторизации: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Логин и пароль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Сообщение об ошибке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уникальности логина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телефона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паролю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Навигация: Каталог, Корзина, Заказы, Профиль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840480" cy="2697480"/>
          </a:xfrm>
          <a:prstGeom prst="rect">
            <a:avLst/>
          </a:prstGeom>
          <a:solidFill>
            <a:srgbClr val="EEF4F6"/>
          </a:solidFill>
          <a:ln w="15875">
            <a:solidFill>
              <a:srgbClr val="2196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000" b="0" i="1" dirty="0">
              <a:solidFill>
                <a:srgbClr val="1C2D4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0" y="4160520"/>
            <a:ext cx="3840480" cy="8686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Times New Roman"/>
              </a:rPr>
              <a:t>Оформление</a:t>
            </a:r>
            <a:r>
              <a:rPr sz="1400" b="1" i="0" dirty="0">
                <a:solidFill>
                  <a:srgbClr val="FFFFFF"/>
                </a:solidFill>
                <a:latin typeface="Times New Roman"/>
              </a:rPr>
              <a:t>:</a:t>
            </a:r>
          </a:p>
          <a:p>
            <a:pPr algn="ctr">
              <a:lnSpc>
                <a:spcPct val="103000"/>
              </a:lnSpc>
              <a:spcBef>
                <a:spcPts val="300"/>
              </a:spcBef>
            </a:pPr>
            <a:r>
              <a:rPr lang="ru-RU" sz="1400" dirty="0">
                <a:solidFill>
                  <a:srgbClr val="FFFFFF"/>
                </a:solidFill>
                <a:latin typeface="Times New Roman"/>
              </a:rPr>
              <a:t>Светло-зелёная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тема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и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единые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стили</a:t>
            </a:r>
            <a:endParaRPr sz="1400" b="0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48920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11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D29924-64D1-3D7A-90D1-35882B98F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840480" cy="2697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9253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Административный модуль (WPF)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4389120" cy="3192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товарами: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новых изделий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Редактирование существующих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Удаление (с проверкой связей)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Справочники: Материалы, камни, типы украшений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Поставщики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Складские остатки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Статусы заказов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840480" cy="2697480"/>
          </a:xfrm>
          <a:prstGeom prst="rect">
            <a:avLst/>
          </a:prstGeom>
          <a:solidFill>
            <a:srgbClr val="EEF4F6"/>
          </a:solidFill>
          <a:ln w="15875">
            <a:solidFill>
              <a:srgbClr val="2196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 dirty="0" err="1">
                <a:solidFill>
                  <a:srgbClr val="2196C4"/>
                </a:solidFill>
                <a:latin typeface="Times New Roman"/>
              </a:rPr>
              <a:t>место</a:t>
            </a:r>
            <a:r>
              <a:rPr sz="1100" b="1" i="0" dirty="0">
                <a:solidFill>
                  <a:srgbClr val="2196C4"/>
                </a:solidFill>
                <a:latin typeface="Times New Roman"/>
              </a:rPr>
              <a:t> </a:t>
            </a:r>
            <a:r>
              <a:rPr sz="1100" b="1" i="0" dirty="0" err="1">
                <a:solidFill>
                  <a:srgbClr val="2196C4"/>
                </a:solidFill>
                <a:latin typeface="Times New Roman"/>
              </a:rPr>
              <a:t>для</a:t>
            </a:r>
            <a:r>
              <a:rPr sz="1100" b="1" i="0" dirty="0">
                <a:solidFill>
                  <a:srgbClr val="2196C4"/>
                </a:solidFill>
                <a:latin typeface="Times New Roman"/>
              </a:rPr>
              <a:t> </a:t>
            </a:r>
            <a:r>
              <a:rPr sz="1100" b="1" i="0" dirty="0" err="1">
                <a:solidFill>
                  <a:srgbClr val="2196C4"/>
                </a:solidFill>
                <a:latin typeface="Times New Roman"/>
              </a:rPr>
              <a:t>изображения</a:t>
            </a:r>
            <a:endParaRPr sz="1100" b="1" i="0" dirty="0">
              <a:solidFill>
                <a:srgbClr val="2196C4"/>
              </a:solidFill>
              <a:latin typeface="Times New Roman"/>
            </a:endParaRPr>
          </a:p>
          <a:p>
            <a:pPr algn="ctr">
              <a:spcBef>
                <a:spcPts val="400"/>
              </a:spcBef>
            </a:pPr>
            <a:r>
              <a:rPr sz="1000" b="0" i="1" dirty="0" err="1">
                <a:solidFill>
                  <a:srgbClr val="1C2D40"/>
                </a:solidFill>
                <a:latin typeface="Times New Roman"/>
              </a:rPr>
              <a:t>Скриншот</a:t>
            </a:r>
            <a:r>
              <a:rPr sz="1000" b="0" i="1" dirty="0">
                <a:solidFill>
                  <a:srgbClr val="1C2D40"/>
                </a:solidFill>
                <a:latin typeface="Times New Roman"/>
              </a:rPr>
              <a:t>: </a:t>
            </a:r>
            <a:r>
              <a:rPr sz="1000" b="0" i="1" dirty="0" err="1">
                <a:solidFill>
                  <a:srgbClr val="1C2D40"/>
                </a:solidFill>
                <a:latin typeface="Times New Roman"/>
              </a:rPr>
              <a:t>главная</a:t>
            </a:r>
            <a:r>
              <a:rPr sz="1000" b="0" i="1" dirty="0">
                <a:solidFill>
                  <a:srgbClr val="1C2D40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1C2D40"/>
                </a:solidFill>
                <a:latin typeface="Times New Roman"/>
              </a:rPr>
              <a:t>страница</a:t>
            </a:r>
            <a:r>
              <a:rPr sz="1000" b="0" i="1" dirty="0">
                <a:solidFill>
                  <a:srgbClr val="1C2D40"/>
                </a:solidFill>
                <a:latin typeface="Times New Roman"/>
              </a:rPr>
              <a:t> </a:t>
            </a:r>
            <a:r>
              <a:rPr sz="1000" b="0" i="1" dirty="0" err="1">
                <a:solidFill>
                  <a:srgbClr val="1C2D40"/>
                </a:solidFill>
                <a:latin typeface="Times New Roman"/>
              </a:rPr>
              <a:t>каталога</a:t>
            </a:r>
            <a:endParaRPr sz="1000" b="0" i="1" dirty="0">
              <a:solidFill>
                <a:srgbClr val="1C2D4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0" y="4160520"/>
            <a:ext cx="3840480" cy="8686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Интуитивно понятное управление данными</a:t>
            </a:r>
            <a:endParaRPr sz="14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48691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12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DA8650C-DE0D-BC70-60BB-CC380A130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71600"/>
            <a:ext cx="3889129" cy="2697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92531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заказа</a:t>
            </a:r>
            <a:endParaRPr sz="21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74038"/>
            <a:ext cx="4251960" cy="28698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Добавление/удаление товаров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Подсчёт общей суммы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заказа: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получателя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в БД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PDF-чека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QR-код с информацией о заказе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3840480" cy="2697480"/>
          </a:xfrm>
          <a:prstGeom prst="rect">
            <a:avLst/>
          </a:prstGeom>
          <a:solidFill>
            <a:srgbClr val="EEF4F6"/>
          </a:solidFill>
          <a:ln w="15875">
            <a:solidFill>
              <a:srgbClr val="2196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196C4"/>
                </a:solidFill>
                <a:latin typeface="Times New Roman"/>
              </a:rPr>
              <a:t>место для изображения</a:t>
            </a:r>
          </a:p>
          <a:p>
            <a:pPr algn="ctr">
              <a:spcBef>
                <a:spcPts val="400"/>
              </a:spcBef>
            </a:pPr>
            <a:r>
              <a:rPr sz="1000" b="0" i="1">
                <a:solidFill>
                  <a:srgbClr val="1C2D40"/>
                </a:solidFill>
                <a:latin typeface="Times New Roman"/>
              </a:rPr>
              <a:t>Скриншот: форма рецензии с оценкой по критериям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60520"/>
            <a:ext cx="3840480" cy="8686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Автоматизация: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PDF-чек с QR-кодом формируется автоматически</a:t>
            </a:r>
            <a:endParaRPr sz="14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488815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13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1FB4C36-802C-E6A5-F388-9E5DC8F75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04940"/>
            <a:ext cx="4141665" cy="2855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E0606-1D9A-08C7-FC32-05C185DB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3812"/>
            <a:ext cx="795527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sz="21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приложения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8725"/>
            <a:ext cx="4389120" cy="35161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авторизация: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уникальности данных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Разграничение ролей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заказами: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записей в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OrderItems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итоговой стоимости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PDF через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QuestPDF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обязательных полей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корректности данных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исключений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60520"/>
            <a:ext cx="3840480" cy="8686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Чек:</a:t>
            </a:r>
          </a:p>
          <a:p>
            <a:pPr>
              <a:lnSpc>
                <a:spcPct val="103000"/>
              </a:lnSpc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  <a:latin typeface="Times New Roman"/>
              </a:rPr>
              <a:t>Электронный чек в PDF с QR-кодом реквизитов заказа.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1C2D40"/>
                </a:solidFill>
                <a:latin typeface="Times New Roman"/>
              </a:rPr>
              <a:t>14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3C7B9D-3F57-783C-9A86-FA086B573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92" y="957003"/>
            <a:ext cx="2633296" cy="311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79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4CCD5-A112-A62B-C329-2988422D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5678" y="692531"/>
            <a:ext cx="79552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 dirty="0" err="1">
                <a:solidFill>
                  <a:srgbClr val="1C2D40"/>
                </a:solidFill>
                <a:latin typeface="Times New Roman"/>
              </a:rPr>
              <a:t>Итоги</a:t>
            </a:r>
            <a:r>
              <a:rPr sz="2100" b="1" i="0" dirty="0">
                <a:solidFill>
                  <a:srgbClr val="1C2D40"/>
                </a:solidFill>
                <a:latin typeface="Times New Roman"/>
              </a:rPr>
              <a:t> и </a:t>
            </a:r>
            <a:r>
              <a:rPr sz="2100" b="1" i="0" dirty="0" err="1">
                <a:solidFill>
                  <a:srgbClr val="1C2D40"/>
                </a:solidFill>
                <a:latin typeface="Times New Roman"/>
              </a:rPr>
              <a:t>выводы</a:t>
            </a:r>
            <a:endParaRPr sz="2100" b="1" i="0" dirty="0">
              <a:solidFill>
                <a:srgbClr val="1C2D40"/>
              </a:solidFill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3175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5349240" cy="28698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курсовой работы была разработана полноценная информационная система для ювелирного магазина.</a:t>
            </a:r>
            <a:endParaRPr lang="ru-RU" sz="14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двухкомпонентная ИС: веб-каталог + WPF-модуль администратора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b="0" i="0" dirty="0" err="1">
                <a:latin typeface="Times New Roman"/>
              </a:rPr>
              <a:t>База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данных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из</a:t>
            </a:r>
            <a:r>
              <a:rPr sz="1400" b="0" i="0" dirty="0">
                <a:latin typeface="Times New Roman"/>
              </a:rPr>
              <a:t> </a:t>
            </a:r>
            <a:r>
              <a:rPr lang="ru-RU" sz="1400" dirty="0">
                <a:latin typeface="Times New Roman"/>
              </a:rPr>
              <a:t>15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таблиц</a:t>
            </a:r>
            <a:r>
              <a:rPr sz="1400" b="0" i="0" dirty="0">
                <a:latin typeface="Times New Roman"/>
              </a:rPr>
              <a:t> (MS SQL Server, 3НФ)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часть: ASP.NET Core MVC (веб) + WPF (админка)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b="0" i="0" dirty="0" err="1">
                <a:latin typeface="Times New Roman"/>
              </a:rPr>
              <a:t>Авторизация</a:t>
            </a:r>
            <a:r>
              <a:rPr sz="1400" b="0" i="0" dirty="0">
                <a:latin typeface="Times New Roman"/>
              </a:rPr>
              <a:t> с </a:t>
            </a:r>
            <a:r>
              <a:rPr sz="1400" b="0" i="0" dirty="0" err="1">
                <a:latin typeface="Times New Roman"/>
              </a:rPr>
              <a:t>ролями</a:t>
            </a:r>
            <a:r>
              <a:rPr sz="1400" b="0" i="0" dirty="0">
                <a:latin typeface="Times New Roman"/>
              </a:rPr>
              <a:t>, </a:t>
            </a:r>
            <a:r>
              <a:rPr sz="1400" b="0" i="0" dirty="0" err="1">
                <a:latin typeface="Times New Roman"/>
              </a:rPr>
              <a:t>каталог</a:t>
            </a:r>
            <a:r>
              <a:rPr sz="1400" b="0" i="0" dirty="0">
                <a:latin typeface="Times New Roman"/>
              </a:rPr>
              <a:t> с </a:t>
            </a:r>
            <a:r>
              <a:rPr sz="1400" b="0" i="0" dirty="0" err="1">
                <a:latin typeface="Times New Roman"/>
              </a:rPr>
              <a:t>поиском</a:t>
            </a:r>
            <a:r>
              <a:rPr sz="1400" b="0" i="0" dirty="0">
                <a:latin typeface="Times New Roman"/>
              </a:rPr>
              <a:t>,</a:t>
            </a:r>
            <a:r>
              <a:rPr lang="ru-RU" sz="140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админ-панель</a:t>
            </a:r>
            <a:endParaRPr sz="1400" b="0" i="0" dirty="0">
              <a:latin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b="0" i="0" dirty="0">
                <a:latin typeface="Times New Roman"/>
              </a:rPr>
              <a:t>PDF-</a:t>
            </a:r>
            <a:r>
              <a:rPr sz="1400" b="0" i="0" dirty="0" err="1">
                <a:latin typeface="Times New Roman"/>
              </a:rPr>
              <a:t>чек</a:t>
            </a:r>
            <a:r>
              <a:rPr sz="1400" b="0" i="0" dirty="0">
                <a:latin typeface="Times New Roman"/>
              </a:rPr>
              <a:t> </a:t>
            </a:r>
            <a:r>
              <a:rPr lang="ru-RU" sz="1400" dirty="0">
                <a:latin typeface="Times New Roman"/>
              </a:rPr>
              <a:t>с</a:t>
            </a:r>
            <a:r>
              <a:rPr sz="1400" b="0" i="0" dirty="0">
                <a:latin typeface="Times New Roman"/>
              </a:rPr>
              <a:t> QR-</a:t>
            </a:r>
            <a:r>
              <a:rPr sz="1400" b="0" i="0" dirty="0" err="1">
                <a:latin typeface="Times New Roman"/>
              </a:rPr>
              <a:t>кодом</a:t>
            </a:r>
            <a:endParaRPr sz="1400" b="0" i="0" dirty="0">
              <a:latin typeface="Times New Roman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b="0" i="0" dirty="0" err="1">
                <a:latin typeface="Times New Roman"/>
              </a:rPr>
              <a:t>Все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поставленные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цели</a:t>
            </a:r>
            <a:r>
              <a:rPr sz="1400" b="0" i="0" dirty="0">
                <a:latin typeface="Times New Roman"/>
              </a:rPr>
              <a:t> и </a:t>
            </a:r>
            <a:r>
              <a:rPr sz="1400" b="0" i="0" dirty="0" err="1">
                <a:latin typeface="Times New Roman"/>
              </a:rPr>
              <a:t>задачи</a:t>
            </a:r>
            <a:r>
              <a:rPr sz="1400" b="0" i="0" dirty="0">
                <a:latin typeface="Times New Roman"/>
              </a:rPr>
              <a:t> </a:t>
            </a:r>
            <a:r>
              <a:rPr sz="1400" b="0" i="0" dirty="0" err="1">
                <a:latin typeface="Times New Roman"/>
              </a:rPr>
              <a:t>выполнены</a:t>
            </a:r>
            <a:endParaRPr sz="1400" b="0" i="0" dirty="0">
              <a:latin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89320" y="1463040"/>
            <a:ext cx="2880360" cy="1554480"/>
          </a:xfrm>
          <a:prstGeom prst="rect">
            <a:avLst/>
          </a:prstGeom>
          <a:solidFill>
            <a:srgbClr val="5BC8D1"/>
          </a:solidFill>
          <a:ln w="12700">
            <a:solidFill>
              <a:srgbClr val="5BC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t"/>
          <a:lstStyle/>
          <a:p>
            <a:pPr algn="ctr"/>
            <a:r>
              <a:rPr lang="ru-RU" sz="1400" b="1" dirty="0">
                <a:solidFill>
                  <a:srgbClr val="FFFFFF"/>
                </a:solidFill>
                <a:latin typeface="Times New Roman"/>
              </a:rPr>
              <a:t>Углублено</a:t>
            </a:r>
            <a:r>
              <a:rPr sz="1400" b="1" i="0" dirty="0">
                <a:solidFill>
                  <a:srgbClr val="FFFFFF"/>
                </a:solidFill>
                <a:latin typeface="Times New Roman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sz="1400" b="0" i="0" dirty="0">
                <a:solidFill>
                  <a:srgbClr val="FFFFFF"/>
                </a:solidFill>
                <a:latin typeface="Times New Roman"/>
              </a:rPr>
              <a:t>C#</a:t>
            </a:r>
            <a:r>
              <a:rPr lang="ru-RU" sz="1400" b="0" i="0" dirty="0">
                <a:solidFill>
                  <a:srgbClr val="FFFFFF"/>
                </a:solidFill>
                <a:latin typeface="Times New Roman"/>
              </a:rPr>
              <a:t>,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WPF</a:t>
            </a:r>
            <a:r>
              <a:rPr lang="ru-RU" sz="1400" b="0" i="0" dirty="0">
                <a:solidFill>
                  <a:srgbClr val="FFFFFF"/>
                </a:solidFill>
                <a:latin typeface="Times New Roman"/>
              </a:rPr>
              <a:t>,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MS SQL Server</a:t>
            </a:r>
            <a:r>
              <a:rPr lang="ru-RU" sz="1400" b="0" i="0" dirty="0">
                <a:solidFill>
                  <a:srgbClr val="FFFFFF"/>
                </a:solidFill>
                <a:latin typeface="Times New Roman"/>
              </a:rPr>
              <a:t>,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Times New Roman"/>
              </a:rPr>
              <a:t>интеграция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 с API</a:t>
            </a:r>
            <a:r>
              <a:rPr lang="ru-RU" sz="1400" b="0" i="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sz="1400" b="0" i="0" dirty="0">
                <a:solidFill>
                  <a:srgbClr val="FFFFFF"/>
                </a:solidFill>
                <a:latin typeface="Times New Roman"/>
              </a:rPr>
              <a:t>PDF + QR</a:t>
            </a:r>
            <a:r>
              <a:rPr lang="ru-RU" sz="1400" b="0" i="0" dirty="0">
                <a:solidFill>
                  <a:srgbClr val="FFFFFF"/>
                </a:solidFill>
                <a:latin typeface="Times New Roman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Times New Roman"/>
              </a:rPr>
              <a:t>ASP.NET</a:t>
            </a:r>
            <a:endParaRPr sz="1400" b="0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0" y="4885685"/>
            <a:ext cx="64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C2D40"/>
                </a:solidFill>
                <a:latin typeface="Times New Roman"/>
              </a:rPr>
              <a:t>1</a:t>
            </a:r>
            <a:r>
              <a:rPr lang="ru-RU" sz="1100" b="0" i="0" dirty="0">
                <a:solidFill>
                  <a:srgbClr val="1C2D40"/>
                </a:solidFill>
                <a:latin typeface="Times New Roman"/>
              </a:rPr>
              <a:t>5</a:t>
            </a:r>
            <a:endParaRPr sz="1100" b="0" i="0" dirty="0">
              <a:solidFill>
                <a:srgbClr val="1C2D4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9479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877</Words>
  <Application>Microsoft Office PowerPoint</Application>
  <PresentationFormat>Экран (16:9)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Григорий Мороз</cp:lastModifiedBy>
  <cp:revision>353</cp:revision>
  <dcterms:created xsi:type="dcterms:W3CDTF">2026-05-31T20:06:29Z</dcterms:created>
  <dcterms:modified xsi:type="dcterms:W3CDTF">2026-06-18T00:21:49Z</dcterms:modified>
</cp:coreProperties>
</file>